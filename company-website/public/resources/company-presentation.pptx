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85" r:id="rId2"/>
    <p:sldId id="277" r:id="rId3"/>
    <p:sldId id="286" r:id="rId4"/>
    <p:sldId id="287" r:id="rId5"/>
    <p:sldId id="288" r:id="rId6"/>
    <p:sldId id="289" r:id="rId7"/>
    <p:sldId id="290" r:id="rId8"/>
    <p:sldId id="291" r:id="rId9"/>
    <p:sldId id="293" r:id="rId10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7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5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548640" y="36118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If Offshoring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Your Firm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5257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decision guide for CPA firm owners evaluating whether offshore accounting support is the right next capacity move.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6400800"/>
            <a:ext cx="45720" cy="5943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6675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partners &amp; firm owners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7178040"/>
            <a:ext cx="45720" cy="5943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7159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7452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scorecard, use cases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7955280"/>
            <a:ext cx="45720" cy="5943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7936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8229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limited-scope pilot</a:t>
            </a:r>
            <a:endParaRPr lang="en-US" sz="1050" dirty="0"/>
          </a:p>
        </p:txBody>
      </p:sp>
      <p:sp>
        <p:nvSpPr>
          <p:cNvPr id="24" name="bgCircleTR">
            <a:extLst>
              <a:ext uri="{FF2B5EF4-FFF2-40B4-BE49-F238E27FC236}">
                <a16:creationId xmlns:a16="http://schemas.microsoft.com/office/drawing/2014/main" id="{EA24C263-30F2-DF00-3981-4C1891A168CF}"/>
              </a:ext>
            </a:extLst>
          </p:cNvPr>
          <p:cNvSpPr/>
          <p:nvPr/>
        </p:nvSpPr>
        <p:spPr>
          <a:xfrm>
            <a:off x="4282957" y="-1508954"/>
            <a:ext cx="5332965" cy="4745107"/>
          </a:xfrm>
          <a:prstGeom prst="ellipse">
            <a:avLst/>
          </a:prstGeom>
          <a:solidFill>
            <a:srgbClr val="1C4A29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7155" tIns="48578" rIns="97155" bIns="485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913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2FE0AF-84A5-7287-6AFF-8D255CB8D5ED}"/>
              </a:ext>
            </a:extLst>
          </p:cNvPr>
          <p:cNvSpPr txBox="1"/>
          <p:nvPr/>
        </p:nvSpPr>
        <p:spPr>
          <a:xfrm rot="10800000">
            <a:off x="5610180" y="601531"/>
            <a:ext cx="7876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5D7CEB7A-073B-8257-EA4F-2B40B35DC344}"/>
              </a:ext>
            </a:extLst>
          </p:cNvPr>
          <p:cNvSpPr/>
          <p:nvPr/>
        </p:nvSpPr>
        <p:spPr>
          <a:xfrm>
            <a:off x="5462539" y="1257573"/>
            <a:ext cx="3454400" cy="8060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spc="34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UPSILON</a:t>
            </a:r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0E6EA15B-9507-CB9E-F2C1-9679EA3A8C56}"/>
              </a:ext>
            </a:extLst>
          </p:cNvPr>
          <p:cNvSpPr/>
          <p:nvPr/>
        </p:nvSpPr>
        <p:spPr>
          <a:xfrm>
            <a:off x="508000" y="8737600"/>
            <a:ext cx="6756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6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Serving U.S. CPA Firms Nationwide   |   Delivery Center in India</a:t>
            </a:r>
          </a:p>
          <a:p>
            <a:pPr algn="ctr">
              <a:spcBef>
                <a:spcPts val="340"/>
              </a:spcBef>
            </a:pPr>
            <a:r>
              <a:rPr lang="en-US" sz="1134" b="1" dirty="0">
                <a:solidFill>
                  <a:srgbClr val="E6B91E"/>
                </a:solidFill>
              </a:rPr>
              <a:t>info@upsilontax.com   |   (209) 877-4566   |   upsilonservices.com</a:t>
            </a:r>
          </a:p>
        </p:txBody>
      </p:sp>
    </p:spTree>
    <p:extLst>
      <p:ext uri="{BB962C8B-B14F-4D97-AF65-F5344CB8AC3E}">
        <p14:creationId xmlns:p14="http://schemas.microsoft.com/office/powerpoint/2010/main" val="148948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tDark"/>
          <p:cNvSpPr/>
          <p:nvPr/>
        </p:nvSpPr>
        <p:spPr>
          <a:xfrm>
            <a:off x="0" y="9525000"/>
            <a:ext cx="7772400" cy="533400"/>
          </a:xfrm>
          <a:prstGeom prst="rect">
            <a:avLst/>
          </a:prstGeom>
          <a:solidFill>
            <a:srgbClr val="083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BotLime"/>
          <p:cNvSpPr/>
          <p:nvPr/>
        </p:nvSpPr>
        <p:spPr>
          <a:xfrm>
            <a:off x="0" y="9461500"/>
            <a:ext cx="7772400" cy="635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603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Offshoring is a strong fit for some CPA firms and a poor first move for others. The difference is rarely just firm size or budget. The better question is whether the firm has repeatable work, clear review ownership, secure file-sharing practices, and a controlled first use case where quality can be tested before broader adoption.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6675120" cy="1737360"/>
          </a:xfrm>
          <a:prstGeom prst="roundRect">
            <a:avLst>
              <a:gd name="adj" fmla="val 3158"/>
            </a:avLst>
          </a:prstGeom>
          <a:solidFill>
            <a:srgbClr val="E8F2EB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73152" cy="1737360"/>
          </a:xfrm>
          <a:prstGeom prst="rect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PRINCIPLE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CPA firm should not start with a broad outsourcing commitment. It should start with one defined workflow, a small pilot batch, a named reviewer, and clear quality expectations.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your firm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980176"/>
            <a:ext cx="237744" cy="237744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6037235"/>
            <a:ext cx="123627" cy="12362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59618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support works best as a controlled capacity extension, not a wholesale replacement for firm judgment.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601968"/>
            <a:ext cx="237744" cy="237744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6659027"/>
            <a:ext cx="123627" cy="1236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65836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firms that succeed are the ones that test quality on a small scope before expanding, not the ones that commit broadly upfront.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7223760"/>
            <a:ext cx="237744" cy="237744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7280819"/>
            <a:ext cx="123627" cy="1236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72054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is designed to help you evaluate fit honestly, and to reduce the perceived risk around quality, communication, security, and client impact.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4" name="HdrLogo"/>
          <p:cNvSpPr/>
          <p:nvPr/>
        </p:nvSpPr>
        <p:spPr>
          <a:xfrm>
            <a:off x="6350000" y="12700"/>
            <a:ext cx="87376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endParaRPr lang="en-US" sz="1900" b="1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3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45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51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3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55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Offshoring Is Likely a Good Fit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these signals inside your own firm before evaluating any offshore partner.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2086295"/>
            <a:ext cx="161666" cy="1616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9659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client work than current staff can comfortably handle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4297680" y="19659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a real capacity problem, not just theoretical interest in outsourcing.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2708087"/>
            <a:ext cx="161666" cy="1616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5877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or managers spending too much time on prep or follow-up work</a:t>
            </a:r>
            <a:endParaRPr lang="en-US" sz="1030" dirty="0"/>
          </a:p>
        </p:txBody>
      </p:sp>
      <p:sp>
        <p:nvSpPr>
          <p:cNvPr id="14" name="Text 10"/>
          <p:cNvSpPr/>
          <p:nvPr/>
        </p:nvSpPr>
        <p:spPr>
          <a:xfrm>
            <a:off x="4297680" y="25877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offshore support could improve partner leverage and reduce burnout.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548640" y="3255264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3329879"/>
            <a:ext cx="161666" cy="1616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20954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local staff is slow, expensive, or unreliable</a:t>
            </a:r>
            <a:endParaRPr lang="en-US" sz="1030" dirty="0"/>
          </a:p>
        </p:txBody>
      </p:sp>
      <p:sp>
        <p:nvSpPr>
          <p:cNvPr id="18" name="Text 13"/>
          <p:cNvSpPr/>
          <p:nvPr/>
        </p:nvSpPr>
        <p:spPr>
          <a:xfrm>
            <a:off x="4297680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practical reason to add a flexible delivery layer.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3951671"/>
            <a:ext cx="161666" cy="1616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83133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bookkeeping, tax prep, payroll, audit support, or admin workflows</a:t>
            </a:r>
            <a:endParaRPr lang="en-US" sz="1030" dirty="0"/>
          </a:p>
        </p:txBody>
      </p:sp>
      <p:sp>
        <p:nvSpPr>
          <p:cNvPr id="22" name="Text 16"/>
          <p:cNvSpPr/>
          <p:nvPr/>
        </p:nvSpPr>
        <p:spPr>
          <a:xfrm>
            <a:off x="4297680" y="38313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work is easier to document, delegate, review, and scale.</a:t>
            </a:r>
            <a:endParaRPr lang="en-US" sz="970" dirty="0"/>
          </a:p>
        </p:txBody>
      </p:sp>
      <p:sp>
        <p:nvSpPr>
          <p:cNvPr id="23" name="Shape 17"/>
          <p:cNvSpPr/>
          <p:nvPr/>
        </p:nvSpPr>
        <p:spPr>
          <a:xfrm>
            <a:off x="548640" y="4498848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4573463"/>
            <a:ext cx="161666" cy="16166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4531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can provide prior-year files, templates, or completed examples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4297680" y="4453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help offshore teams align with firm standards faster.</a:t>
            </a:r>
            <a:endParaRPr lang="en-US" sz="970" dirty="0"/>
          </a:p>
        </p:txBody>
      </p:sp>
      <p:sp>
        <p:nvSpPr>
          <p:cNvPr id="27" name="Shape 20"/>
          <p:cNvSpPr/>
          <p:nvPr/>
        </p:nvSpPr>
        <p:spPr>
          <a:xfrm>
            <a:off x="548640" y="5120640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5195255"/>
            <a:ext cx="161666" cy="16166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5840" y="50749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inside the firm can review early output quickly</a:t>
            </a:r>
            <a:endParaRPr lang="en-US" sz="1030" dirty="0"/>
          </a:p>
        </p:txBody>
      </p:sp>
      <p:sp>
        <p:nvSpPr>
          <p:cNvPr id="30" name="Text 22"/>
          <p:cNvSpPr/>
          <p:nvPr/>
        </p:nvSpPr>
        <p:spPr>
          <a:xfrm>
            <a:off x="4297680" y="50749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review turns the pilot into a learning process, not a guessing exercise.</a:t>
            </a:r>
            <a:endParaRPr lang="en-US" sz="970" dirty="0"/>
          </a:p>
        </p:txBody>
      </p:sp>
      <p:sp>
        <p:nvSpPr>
          <p:cNvPr id="31" name="Shape 23"/>
          <p:cNvSpPr/>
          <p:nvPr/>
        </p:nvSpPr>
        <p:spPr>
          <a:xfrm>
            <a:off x="548640" y="5742432"/>
            <a:ext cx="310896" cy="310896"/>
          </a:xfrm>
          <a:prstGeom prst="ellipse">
            <a:avLst/>
          </a:prstGeom>
          <a:solidFill>
            <a:srgbClr val="E8F2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5817047"/>
            <a:ext cx="161666" cy="16166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05840" y="56967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is open to documenting handoffs and communication norms</a:t>
            </a:r>
            <a:endParaRPr lang="en-US" sz="1030" dirty="0"/>
          </a:p>
        </p:txBody>
      </p:sp>
      <p:sp>
        <p:nvSpPr>
          <p:cNvPr id="34" name="Text 25"/>
          <p:cNvSpPr/>
          <p:nvPr/>
        </p:nvSpPr>
        <p:spPr>
          <a:xfrm>
            <a:off x="4297680" y="569671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handoffs reduce rework, missed details, and anxiety.</a:t>
            </a:r>
            <a:endParaRPr lang="en-US" sz="97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08526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Offshoring May Not Be Ready Yet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signals point to gaps worth closing before sending client work offshore.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675120" cy="731520"/>
          </a:xfrm>
          <a:prstGeom prst="roundRect">
            <a:avLst>
              <a:gd name="adj" fmla="val 6250"/>
            </a:avLst>
          </a:prstGeom>
          <a:solidFill>
            <a:srgbClr val="FBF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09397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2164202"/>
            <a:ext cx="152156" cy="1521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workflow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5468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offshore team has to infer process and judgment calls.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5577840" y="20574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one repeatable workflow before starting.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548640" y="2807208"/>
            <a:ext cx="6675120" cy="731520"/>
          </a:xfrm>
          <a:prstGeom prst="roundRect">
            <a:avLst>
              <a:gd name="adj" fmla="val 6250"/>
            </a:avLst>
          </a:prstGeom>
          <a:solidFill>
            <a:srgbClr val="FBF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13232" y="293522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3005450"/>
            <a:ext cx="152156" cy="1521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43000" y="28986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reviewer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54680" y="2898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delayed or inconsistent, which slows quality improvement.</a:t>
            </a:r>
            <a:endParaRPr lang="en-US" sz="970" dirty="0"/>
          </a:p>
        </p:txBody>
      </p:sp>
      <p:sp>
        <p:nvSpPr>
          <p:cNvPr id="18" name="Text 14"/>
          <p:cNvSpPr/>
          <p:nvPr/>
        </p:nvSpPr>
        <p:spPr>
          <a:xfrm>
            <a:off x="5577840" y="28986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reviewer for the pilot and define turnaround.</a:t>
            </a:r>
            <a:endParaRPr lang="en-US" sz="970" dirty="0"/>
          </a:p>
        </p:txBody>
      </p:sp>
      <p:sp>
        <p:nvSpPr>
          <p:cNvPr id="19" name="Shape 15"/>
          <p:cNvSpPr/>
          <p:nvPr/>
        </p:nvSpPr>
        <p:spPr>
          <a:xfrm>
            <a:off x="548640" y="3648456"/>
            <a:ext cx="6675120" cy="731520"/>
          </a:xfrm>
          <a:prstGeom prst="roundRect">
            <a:avLst>
              <a:gd name="adj" fmla="val 6250"/>
            </a:avLst>
          </a:prstGeom>
          <a:solidFill>
            <a:srgbClr val="FBF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3232" y="3776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3846698"/>
            <a:ext cx="152156" cy="1521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7398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customized work only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154680" y="37398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engagement may depend too much on firm-specific judgment.</a:t>
            </a:r>
            <a:endParaRPr lang="en-US" sz="970" dirty="0"/>
          </a:p>
        </p:txBody>
      </p:sp>
      <p:sp>
        <p:nvSpPr>
          <p:cNvPr id="24" name="Text 19"/>
          <p:cNvSpPr/>
          <p:nvPr/>
        </p:nvSpPr>
        <p:spPr>
          <a:xfrm>
            <a:off x="5577840" y="37398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narrower task or lower-risk client set.</a:t>
            </a:r>
            <a:endParaRPr lang="en-US" sz="970" dirty="0"/>
          </a:p>
        </p:txBody>
      </p:sp>
      <p:sp>
        <p:nvSpPr>
          <p:cNvPr id="25" name="Shape 20"/>
          <p:cNvSpPr/>
          <p:nvPr/>
        </p:nvSpPr>
        <p:spPr>
          <a:xfrm>
            <a:off x="548640" y="4489704"/>
            <a:ext cx="6675120" cy="731520"/>
          </a:xfrm>
          <a:prstGeom prst="roundRect">
            <a:avLst>
              <a:gd name="adj" fmla="val 6250"/>
            </a:avLst>
          </a:prstGeom>
          <a:solidFill>
            <a:srgbClr val="FBF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13232" y="4617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4687946"/>
            <a:ext cx="152156" cy="1521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45811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file access process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154680" y="45811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handoff concerns can block progress.</a:t>
            </a:r>
            <a:endParaRPr lang="en-US" sz="970" dirty="0"/>
          </a:p>
        </p:txBody>
      </p:sp>
      <p:sp>
        <p:nvSpPr>
          <p:cNvPr id="30" name="Text 24"/>
          <p:cNvSpPr/>
          <p:nvPr/>
        </p:nvSpPr>
        <p:spPr>
          <a:xfrm>
            <a:off x="5577840" y="45811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document exchange, permissions, and naming rules.</a:t>
            </a:r>
            <a:endParaRPr lang="en-US" sz="970" dirty="0"/>
          </a:p>
        </p:txBody>
      </p:sp>
      <p:sp>
        <p:nvSpPr>
          <p:cNvPr id="31" name="Shape 25"/>
          <p:cNvSpPr/>
          <p:nvPr/>
        </p:nvSpPr>
        <p:spPr>
          <a:xfrm>
            <a:off x="548640" y="5330952"/>
            <a:ext cx="6675120" cy="731520"/>
          </a:xfrm>
          <a:prstGeom prst="roundRect">
            <a:avLst>
              <a:gd name="adj" fmla="val 6250"/>
            </a:avLst>
          </a:prstGeom>
          <a:solidFill>
            <a:srgbClr val="FBF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13232" y="545896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8" y="5529194"/>
            <a:ext cx="152156" cy="1521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43000" y="5422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of instant scale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154680" y="5422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first scopes increase anxiety and rework risk.</a:t>
            </a:r>
            <a:endParaRPr lang="en-US" sz="970" dirty="0"/>
          </a:p>
        </p:txBody>
      </p:sp>
      <p:sp>
        <p:nvSpPr>
          <p:cNvPr id="36" name="Text 29"/>
          <p:cNvSpPr/>
          <p:nvPr/>
        </p:nvSpPr>
        <p:spPr>
          <a:xfrm>
            <a:off x="5577840" y="5422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limited pilot batch and expand after review.</a:t>
            </a:r>
            <a:endParaRPr lang="en-US" sz="970" dirty="0"/>
          </a:p>
        </p:txBody>
      </p:sp>
      <p:sp>
        <p:nvSpPr>
          <p:cNvPr id="37" name="Text 30"/>
          <p:cNvSpPr/>
          <p:nvPr/>
        </p:nvSpPr>
        <p:spPr>
          <a:xfrm>
            <a:off x="548640" y="62179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 </a:t>
            </a:r>
            <a:r>
              <a:rPr lang="en-US" sz="8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r>
              <a:rPr lang="en-US" sz="8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Risk:  </a:t>
            </a:r>
            <a:r>
              <a:rPr lang="en-US" sz="8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creates risk</a:t>
            </a:r>
            <a:r>
              <a:rPr lang="en-US" sz="8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Fix:  </a:t>
            </a:r>
            <a:r>
              <a:rPr lang="en-US" sz="8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fix first</a:t>
            </a:r>
            <a:endParaRPr lang="en-US" sz="80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9416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Fit Scorecard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 firm from 1 to 5 in each category. You don't need a perfect score — low scores simply show where to tighten your process before moving client work offshore.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325880" cy="320040"/>
          </a:xfrm>
          <a:prstGeom prst="rect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2331720"/>
            <a:ext cx="1920240" cy="320040"/>
          </a:xfrm>
          <a:prstGeom prst="rect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2331720"/>
            <a:ext cx="1920240" cy="320040"/>
          </a:xfrm>
          <a:prstGeom prst="rect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5935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331720"/>
            <a:ext cx="1325880" cy="320040"/>
          </a:xfrm>
          <a:prstGeom prst="rect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25312" y="23317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697480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need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2651760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93392" y="2697480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bottleneck.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2651760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9352" y="2697480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overload in peak periods.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651760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25312" y="2697480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backlog, hiring pressure, or partner overload.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1325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3593592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clarity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20240" y="3547872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93392" y="3593592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lives mostly in people's heads.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6200" y="3547872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59352" y="3593592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steps known but not documented.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3547872"/>
            <a:ext cx="1325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25312" y="3593592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SOP, samples, templates, and review expectations available.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443984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4489704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ownership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20240" y="4443984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93392" y="4489704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assigned reviewer.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86200" y="4443984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59352" y="4489704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exists but feedback timing unclear.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4443984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25312" y="4489704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reviewer with defined turnaround and feedback process.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340096"/>
            <a:ext cx="1325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" y="5385816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readiness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920240" y="5340096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993392" y="5385816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File-sharing process is ad hoc.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5340096"/>
            <a:ext cx="1920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59352" y="5385816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secure sharing exists, access rules need refinement.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52160" y="5340096"/>
            <a:ext cx="132588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25312" y="5385816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permissions, and document exchange rules defined.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6236208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" y="628192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suitability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920240" y="6236208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993392" y="628192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low-risk first workflow.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86200" y="6236208"/>
            <a:ext cx="192024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59352" y="628192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possible workflow, but scope needs tightening.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6236208"/>
            <a:ext cx="1325880" cy="896112"/>
          </a:xfrm>
          <a:prstGeom prst="rect">
            <a:avLst/>
          </a:prstGeom>
          <a:solidFill>
            <a:srgbClr val="E8F2EB"/>
          </a:solidFill>
          <a:ln w="635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25312" y="628192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limited-scope pilot can start within 2 to 4 weeks.</a:t>
            </a:r>
            <a:endParaRPr lang="en-US" sz="90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4084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Your Score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your scores across all five categories (out of a possible 25) and find your range below.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675120" cy="1234440"/>
          </a:xfrm>
          <a:prstGeom prst="roundRect">
            <a:avLst>
              <a:gd name="adj" fmla="val 3704"/>
            </a:avLst>
          </a:prstGeom>
          <a:solidFill>
            <a:srgbClr val="E8F2EB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417320" cy="1234440"/>
          </a:xfrm>
          <a:prstGeom prst="rect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48840" y="2276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48840" y="258775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controlled pilot and prepare the first expansion path if quality and communication meet expectations.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6675120" cy="1234440"/>
          </a:xfrm>
          <a:prstGeom prst="roundRect">
            <a:avLst>
              <a:gd name="adj" fmla="val 3704"/>
            </a:avLst>
          </a:prstGeom>
          <a:solidFill>
            <a:srgbClr val="E8F2EB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417320" cy="1234440"/>
          </a:xfrm>
          <a:prstGeom prst="rect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48840" y="3694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48840" y="40050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weakest readiness area, then run a narrow pilot with a small batch.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6675120" cy="1234440"/>
          </a:xfrm>
          <a:prstGeom prst="roundRect">
            <a:avLst>
              <a:gd name="adj" fmla="val 3704"/>
            </a:avLst>
          </a:prstGeom>
          <a:solidFill>
            <a:srgbClr val="E8F2EB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417320" cy="12344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148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5111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YET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148840" y="54223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one workflow, assign a reviewer, and define secure handoff rules before sending work.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6675120" cy="1234440"/>
          </a:xfrm>
          <a:prstGeom prst="roundRect">
            <a:avLst>
              <a:gd name="adj" fmla="val 3704"/>
            </a:avLst>
          </a:prstGeom>
          <a:solidFill>
            <a:srgbClr val="E8F2EB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417320" cy="1234440"/>
          </a:xfrm>
          <a:prstGeom prst="rect">
            <a:avLst/>
          </a:prstGeom>
          <a:solidFill>
            <a:srgbClr val="C42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565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6949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48840" y="6528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YET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148840" y="68397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business problem and operating process before evaluating offshore support.</a:t>
            </a:r>
            <a:endParaRPr lang="en-US" sz="103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77783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First Offshore Use Cases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workflows tend to make the safest, most measurable starting points for a first pilot.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675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45242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286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 Cleanup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26151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can be bounded by client, month, or account set.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0876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example: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2 to 5 client files with review notes and reconciliation support.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6675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1440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Preparation Support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08760" y="43068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can be assessed against prior-year files and firm review standards.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508760" y="4690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example: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10 to 20 similar returns with a clear handoff checklist.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5486400"/>
            <a:ext cx="6675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5715000"/>
            <a:ext cx="502920" cy="502920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835701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5669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Close Support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08760" y="59984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work creates a stable rhythm after initial alignment.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08760" y="63825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example: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1 to 3 entities with bank reconciliations and close package prep.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7178040"/>
            <a:ext cx="6675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77240" y="7406640"/>
            <a:ext cx="502920" cy="502920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7527341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7360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Workflow Support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508760" y="76901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low-leverage staff time without changing client advisory ownership.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508760" y="80741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example:  </a:t>
            </a: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document organization, missing-item tracking, and status updates.</a:t>
            </a:r>
            <a:endParaRPr lang="en-US" sz="100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5385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Ask Before Choosing a Partner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evaluate any offshore provider, including Upsilon, before you commit.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145182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05740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work be assigned, tracked, reviewed, and corrected?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244144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whether the delivery process is structured.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041294"/>
            <a:ext cx="190195" cy="190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953512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be the daily point of contact?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51560" y="333756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communication uncertainty.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849624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937406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849624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quality checks happen before work reaches the firm reviewer?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51560" y="4233672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firm from becoming the only quality-control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4833518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745736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missing items and unclear source documents handled?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051560" y="5129784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silent delays and unnecessary assumptions.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5641848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5729630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564184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client data exchanged and access controlled?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51560" y="602589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buyer risk around confidentiality and security.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6537960"/>
            <a:ext cx="365760" cy="365760"/>
          </a:xfrm>
          <a:prstGeom prst="ellipse">
            <a:avLst/>
          </a:prstGeom>
          <a:solidFill>
            <a:srgbClr val="0528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6625742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51560" y="653796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firm start with a micro-pilot instead of a broad commitment?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051560" y="692200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switching anxiety and creates fast proof of value.</a:t>
            </a:r>
            <a:endParaRPr lang="en-US" sz="100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59183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opDark">
            <a:extLst>
              <a:ext uri="{FF2B5EF4-FFF2-40B4-BE49-F238E27FC236}">
                <a16:creationId xmlns:a16="http://schemas.microsoft.com/office/drawing/2014/main" id="{D61D3095-FA3A-61D5-D9D6-62CEAD2F7469}"/>
              </a:ext>
            </a:extLst>
          </p:cNvPr>
          <p:cNvSpPr/>
          <p:nvPr/>
        </p:nvSpPr>
        <p:spPr>
          <a:xfrm>
            <a:off x="0" y="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opLime">
            <a:extLst>
              <a:ext uri="{FF2B5EF4-FFF2-40B4-BE49-F238E27FC236}">
                <a16:creationId xmlns:a16="http://schemas.microsoft.com/office/drawing/2014/main" id="{D727A92F-431F-4800-2C1D-671FA6631B2C}"/>
              </a:ext>
            </a:extLst>
          </p:cNvPr>
          <p:cNvSpPr/>
          <p:nvPr/>
        </p:nvSpPr>
        <p:spPr>
          <a:xfrm>
            <a:off x="0" y="6350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opLight">
            <a:extLst>
              <a:ext uri="{FF2B5EF4-FFF2-40B4-BE49-F238E27FC236}">
                <a16:creationId xmlns:a16="http://schemas.microsoft.com/office/drawing/2014/main" id="{7DA87B67-DABE-8E09-EF7C-32567DCFADED}"/>
              </a:ext>
            </a:extLst>
          </p:cNvPr>
          <p:cNvSpPr/>
          <p:nvPr/>
        </p:nvSpPr>
        <p:spPr>
          <a:xfrm>
            <a:off x="0" y="7366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BotLight">
            <a:extLst>
              <a:ext uri="{FF2B5EF4-FFF2-40B4-BE49-F238E27FC236}">
                <a16:creationId xmlns:a16="http://schemas.microsoft.com/office/drawing/2014/main" id="{642CB57A-B723-E356-A09B-16975FC92D1B}"/>
              </a:ext>
            </a:extLst>
          </p:cNvPr>
          <p:cNvSpPr/>
          <p:nvPr/>
        </p:nvSpPr>
        <p:spPr>
          <a:xfrm>
            <a:off x="0" y="9194800"/>
            <a:ext cx="7772400" cy="127000"/>
          </a:xfrm>
          <a:prstGeom prst="rect">
            <a:avLst/>
          </a:prstGeom>
          <a:solidFill>
            <a:srgbClr val="DCEB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tLime">
            <a:extLst>
              <a:ext uri="{FF2B5EF4-FFF2-40B4-BE49-F238E27FC236}">
                <a16:creationId xmlns:a16="http://schemas.microsoft.com/office/drawing/2014/main" id="{880551D9-DBD7-A08A-FE48-0B4A6877684C}"/>
              </a:ext>
            </a:extLst>
          </p:cNvPr>
          <p:cNvSpPr/>
          <p:nvPr/>
        </p:nvSpPr>
        <p:spPr>
          <a:xfrm>
            <a:off x="0" y="9321800"/>
            <a:ext cx="7772400" cy="1016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BotDark">
            <a:extLst>
              <a:ext uri="{FF2B5EF4-FFF2-40B4-BE49-F238E27FC236}">
                <a16:creationId xmlns:a16="http://schemas.microsoft.com/office/drawing/2014/main" id="{9D5E5EA7-BE9A-E440-29C9-09B964999E03}"/>
              </a:ext>
            </a:extLst>
          </p:cNvPr>
          <p:cNvSpPr/>
          <p:nvPr/>
        </p:nvSpPr>
        <p:spPr>
          <a:xfrm>
            <a:off x="0" y="9423400"/>
            <a:ext cx="7772400" cy="635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7747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Micro-Pilot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mid-sized CPA firms, the safest first step is a 2 to 4 week micro-pilot.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33735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workflow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10896" cy="310896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945799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file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310896" cy="310896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57863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handoff rules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10896" cy="310896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69927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reviewer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310896" cy="310896"/>
          </a:xfrm>
          <a:prstGeom prst="ellipse">
            <a:avLst/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481991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quality, turnaround, query clarity, and review effort before expanding</a:t>
            </a:r>
            <a:endParaRPr lang="en-US" sz="1200" dirty="0"/>
          </a:p>
        </p:txBody>
      </p:sp>
      <p:sp>
        <p:nvSpPr>
          <p:cNvPr id="207" name="HdrLogo">
            <a:extLst>
              <a:ext uri="{FF2B5EF4-FFF2-40B4-BE49-F238E27FC236}">
                <a16:creationId xmlns:a16="http://schemas.microsoft.com/office/drawing/2014/main" id="{89234601-7B52-1495-1EB0-D906D412F572}"/>
              </a:ext>
            </a:extLst>
          </p:cNvPr>
          <p:cNvSpPr txBox="1"/>
          <p:nvPr/>
        </p:nvSpPr>
        <p:spPr>
          <a:xfrm rot="10800000">
            <a:off x="6487886" y="32657"/>
            <a:ext cx="558800" cy="431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l-GR" sz="2400" dirty="0">
                <a:solidFill>
                  <a:srgbClr val="FFFFFF"/>
                </a:solidFill>
                <a:latin typeface="Times New Roman"/>
                <a:cs typeface="Times New Roman"/>
              </a:rPr>
              <a:t>Ω</a:t>
            </a:r>
            <a:endParaRPr lang="en-US" sz="24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08" name="HdrWordmark">
            <a:extLst>
              <a:ext uri="{FF2B5EF4-FFF2-40B4-BE49-F238E27FC236}">
                <a16:creationId xmlns:a16="http://schemas.microsoft.com/office/drawing/2014/main" id="{1E31278B-60F6-F2D4-8F82-0F27C9A5CE34}"/>
              </a:ext>
            </a:extLst>
          </p:cNvPr>
          <p:cNvSpPr txBox="1"/>
          <p:nvPr/>
        </p:nvSpPr>
        <p:spPr>
          <a:xfrm>
            <a:off x="6379029" y="304800"/>
            <a:ext cx="950685" cy="28665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UPSILON</a:t>
            </a:r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85A4C690-114B-BB3B-2B12-85D1DA87C5C8}"/>
              </a:ext>
            </a:extLst>
          </p:cNvPr>
          <p:cNvSpPr/>
          <p:nvPr/>
        </p:nvSpPr>
        <p:spPr>
          <a:xfrm>
            <a:off x="327740" y="9553029"/>
            <a:ext cx="7116202" cy="24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Consultation Today</a:t>
            </a:r>
            <a:endParaRPr lang="en-US" sz="1129" dirty="0"/>
          </a:p>
        </p:txBody>
      </p:sp>
      <p:sp>
        <p:nvSpPr>
          <p:cNvPr id="210" name="Text 38">
            <a:extLst>
              <a:ext uri="{FF2B5EF4-FFF2-40B4-BE49-F238E27FC236}">
                <a16:creationId xmlns:a16="http://schemas.microsoft.com/office/drawing/2014/main" id="{6B4A2EF2-77DA-4022-51ED-808B4E9EAE5C}"/>
              </a:ext>
            </a:extLst>
          </p:cNvPr>
          <p:cNvSpPr/>
          <p:nvPr/>
        </p:nvSpPr>
        <p:spPr>
          <a:xfrm>
            <a:off x="327740" y="9775097"/>
            <a:ext cx="7116202" cy="223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7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   |   upsilonservices.com</a:t>
            </a:r>
            <a:endParaRPr lang="en-US" sz="847" dirty="0"/>
          </a:p>
        </p:txBody>
      </p:sp>
      <p:sp>
        <p:nvSpPr>
          <p:cNvPr id="211" name="Text 19"/>
          <p:cNvSpPr/>
          <p:nvPr/>
        </p:nvSpPr>
        <p:spPr>
          <a:xfrm>
            <a:off x="6766560" y="9637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828289BE-204F-C3A9-EED8-26790D2BCC36}"/>
              </a:ext>
            </a:extLst>
          </p:cNvPr>
          <p:cNvSpPr/>
          <p:nvPr/>
        </p:nvSpPr>
        <p:spPr>
          <a:xfrm>
            <a:off x="542861" y="5227979"/>
            <a:ext cx="6427815" cy="2777016"/>
          </a:xfrm>
          <a:prstGeom prst="roundRect">
            <a:avLst>
              <a:gd name="adj" fmla="val 1690"/>
            </a:avLst>
          </a:prstGeom>
          <a:solidFill>
            <a:srgbClr val="083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320FC966-41EF-7C5B-F0AF-E29C643600E4}"/>
              </a:ext>
            </a:extLst>
          </p:cNvPr>
          <p:cNvSpPr/>
          <p:nvPr/>
        </p:nvSpPr>
        <p:spPr>
          <a:xfrm>
            <a:off x="844030" y="5362918"/>
            <a:ext cx="3958226" cy="312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94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Get Started?</a:t>
            </a:r>
            <a:endParaRPr lang="en-US" sz="1694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B0F4684A-D618-6A10-417B-3088F701FAAE}"/>
              </a:ext>
            </a:extLst>
          </p:cNvPr>
          <p:cNvSpPr/>
          <p:nvPr/>
        </p:nvSpPr>
        <p:spPr>
          <a:xfrm>
            <a:off x="844030" y="5763825"/>
            <a:ext cx="3958226" cy="58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4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30-minute consultation. We'll review your firm's needs, identify the best engagement model, and show exactly how Upsilon can fit into your workflow.</a:t>
            </a:r>
            <a:endParaRPr lang="en-US" sz="941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BDD89D47-6384-464F-D5D6-888DC6403787}"/>
              </a:ext>
            </a:extLst>
          </p:cNvPr>
          <p:cNvSpPr/>
          <p:nvPr/>
        </p:nvSpPr>
        <p:spPr>
          <a:xfrm>
            <a:off x="5378781" y="5405943"/>
            <a:ext cx="1290726" cy="1173387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/home/claude/qr_booking.png">
            <a:extLst>
              <a:ext uri="{FF2B5EF4-FFF2-40B4-BE49-F238E27FC236}">
                <a16:creationId xmlns:a16="http://schemas.microsoft.com/office/drawing/2014/main" id="{5D20A55F-79F0-79F1-2218-0D266CB78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788" y="5523281"/>
            <a:ext cx="938710" cy="938710"/>
          </a:xfrm>
          <a:prstGeom prst="rect">
            <a:avLst/>
          </a:prstGeom>
        </p:spPr>
      </p:pic>
      <p:sp>
        <p:nvSpPr>
          <p:cNvPr id="34" name="Text 19">
            <a:extLst>
              <a:ext uri="{FF2B5EF4-FFF2-40B4-BE49-F238E27FC236}">
                <a16:creationId xmlns:a16="http://schemas.microsoft.com/office/drawing/2014/main" id="{A28108D9-6C08-1773-8744-0727D5B67A48}"/>
              </a:ext>
            </a:extLst>
          </p:cNvPr>
          <p:cNvSpPr/>
          <p:nvPr/>
        </p:nvSpPr>
        <p:spPr>
          <a:xfrm>
            <a:off x="5378781" y="6671636"/>
            <a:ext cx="1290726" cy="156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3" i="1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book</a:t>
            </a:r>
            <a:endParaRPr lang="en-US" sz="753" dirty="0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BE51DE35-33AF-FD9E-005F-FAF5B44FC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52" y="6835127"/>
            <a:ext cx="156452" cy="156452"/>
          </a:xfrm>
          <a:prstGeom prst="rect">
            <a:avLst/>
          </a:prstGeom>
        </p:spPr>
      </p:pic>
      <p:sp>
        <p:nvSpPr>
          <p:cNvPr id="38" name="Text 20">
            <a:extLst>
              <a:ext uri="{FF2B5EF4-FFF2-40B4-BE49-F238E27FC236}">
                <a16:creationId xmlns:a16="http://schemas.microsoft.com/office/drawing/2014/main" id="{39237005-8069-9697-7ABA-E99E07042278}"/>
              </a:ext>
            </a:extLst>
          </p:cNvPr>
          <p:cNvSpPr/>
          <p:nvPr/>
        </p:nvSpPr>
        <p:spPr>
          <a:xfrm>
            <a:off x="1102175" y="6769419"/>
            <a:ext cx="645363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847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BE499B17-977C-DD44-DA07-35E76B18D4C3}"/>
              </a:ext>
            </a:extLst>
          </p:cNvPr>
          <p:cNvSpPr/>
          <p:nvPr/>
        </p:nvSpPr>
        <p:spPr>
          <a:xfrm>
            <a:off x="1747539" y="6769419"/>
            <a:ext cx="1880157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info@upsilontax.com</a:t>
            </a:r>
            <a:endParaRPr lang="en-US" sz="847" dirty="0"/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C40BE242-45B8-242F-AE54-79117510F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663" y="6835127"/>
            <a:ext cx="156452" cy="156452"/>
          </a:xfrm>
          <a:prstGeom prst="rect">
            <a:avLst/>
          </a:prstGeom>
        </p:spPr>
      </p:pic>
      <p:sp>
        <p:nvSpPr>
          <p:cNvPr id="44" name="Text 22">
            <a:extLst>
              <a:ext uri="{FF2B5EF4-FFF2-40B4-BE49-F238E27FC236}">
                <a16:creationId xmlns:a16="http://schemas.microsoft.com/office/drawing/2014/main" id="{7880EB50-ADD6-97E7-678A-620162F4B966}"/>
              </a:ext>
            </a:extLst>
          </p:cNvPr>
          <p:cNvSpPr/>
          <p:nvPr/>
        </p:nvSpPr>
        <p:spPr>
          <a:xfrm>
            <a:off x="4143986" y="6769419"/>
            <a:ext cx="645363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847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F76E7149-CF08-9D0C-D55F-EB0BE8A56F87}"/>
              </a:ext>
            </a:extLst>
          </p:cNvPr>
          <p:cNvSpPr/>
          <p:nvPr/>
        </p:nvSpPr>
        <p:spPr>
          <a:xfrm>
            <a:off x="4789349" y="6769419"/>
            <a:ext cx="1880157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(209) 877-4566</a:t>
            </a:r>
            <a:endParaRPr lang="en-US" sz="847" dirty="0"/>
          </a:p>
        </p:txBody>
      </p:sp>
      <p:pic>
        <p:nvPicPr>
          <p:cNvPr id="48" name="Image 5" descr="preencoded.png">
            <a:extLst>
              <a:ext uri="{FF2B5EF4-FFF2-40B4-BE49-F238E27FC236}">
                <a16:creationId xmlns:a16="http://schemas.microsoft.com/office/drawing/2014/main" id="{A933EA86-1C48-3200-4662-A5A3CB6B6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2" y="7196531"/>
            <a:ext cx="156452" cy="156452"/>
          </a:xfrm>
          <a:prstGeom prst="rect">
            <a:avLst/>
          </a:prstGeom>
        </p:spPr>
      </p:pic>
      <p:sp>
        <p:nvSpPr>
          <p:cNvPr id="50" name="Text 24">
            <a:extLst>
              <a:ext uri="{FF2B5EF4-FFF2-40B4-BE49-F238E27FC236}">
                <a16:creationId xmlns:a16="http://schemas.microsoft.com/office/drawing/2014/main" id="{9EF4952F-E841-F7FA-3D8C-840469BC1A5C}"/>
              </a:ext>
            </a:extLst>
          </p:cNvPr>
          <p:cNvSpPr/>
          <p:nvPr/>
        </p:nvSpPr>
        <p:spPr>
          <a:xfrm>
            <a:off x="1102175" y="7130822"/>
            <a:ext cx="645363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</a:t>
            </a:r>
            <a:endParaRPr lang="en-US" sz="847" dirty="0"/>
          </a:p>
        </p:txBody>
      </p:sp>
      <p:pic>
        <p:nvPicPr>
          <p:cNvPr id="52" name="Image 6" descr="preencoded.png">
            <a:extLst>
              <a:ext uri="{FF2B5EF4-FFF2-40B4-BE49-F238E27FC236}">
                <a16:creationId xmlns:a16="http://schemas.microsoft.com/office/drawing/2014/main" id="{2D1D138E-624F-4208-63B6-86228657D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3663" y="7196531"/>
            <a:ext cx="156452" cy="156452"/>
          </a:xfrm>
          <a:prstGeom prst="rect">
            <a:avLst/>
          </a:prstGeom>
        </p:spPr>
      </p:pic>
      <p:sp>
        <p:nvSpPr>
          <p:cNvPr id="54" name="Text 26">
            <a:extLst>
              <a:ext uri="{FF2B5EF4-FFF2-40B4-BE49-F238E27FC236}">
                <a16:creationId xmlns:a16="http://schemas.microsoft.com/office/drawing/2014/main" id="{2478EC39-594A-9D98-0AA8-D0C683E4553F}"/>
              </a:ext>
            </a:extLst>
          </p:cNvPr>
          <p:cNvSpPr/>
          <p:nvPr/>
        </p:nvSpPr>
        <p:spPr>
          <a:xfrm>
            <a:off x="4143986" y="7130822"/>
            <a:ext cx="645363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Booking:</a:t>
            </a:r>
            <a:endParaRPr lang="en-US" sz="847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04A156B-9B97-AD27-C71F-02EEDB840DCB}"/>
              </a:ext>
            </a:extLst>
          </p:cNvPr>
          <p:cNvSpPr/>
          <p:nvPr/>
        </p:nvSpPr>
        <p:spPr>
          <a:xfrm>
            <a:off x="4789349" y="7130822"/>
            <a:ext cx="1880157" cy="21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outlook.office.com/.../Upsilon2/bookings</a:t>
            </a:r>
            <a:endParaRPr lang="en-US" sz="847" dirty="0"/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4556136D-AD0C-79A0-B2CA-1D4B88B8DEB5}"/>
              </a:ext>
            </a:extLst>
          </p:cNvPr>
          <p:cNvSpPr/>
          <p:nvPr/>
        </p:nvSpPr>
        <p:spPr>
          <a:xfrm>
            <a:off x="844030" y="7809430"/>
            <a:ext cx="5825476" cy="19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Certified   |   CMMI Level 3   |   NDA-Bound Team   |   Serving U.S. CPA Firms Nationwide</a:t>
            </a:r>
            <a:endParaRPr lang="en-US" sz="800" dirty="0"/>
          </a:p>
        </p:txBody>
      </p:sp>
      <p:sp>
        <p:nvSpPr>
          <p:cNvPr id="260" name="Text Web Value"/>
          <p:cNvSpPr/>
          <p:nvPr/>
        </p:nvSpPr>
        <p:spPr>
          <a:xfrm>
            <a:off x="1752600" y="7124700"/>
            <a:ext cx="18796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84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upsilonservices.com</a:t>
            </a:r>
            <a:endParaRPr lang="en-US" sz="847" dirty="0"/>
          </a:p>
        </p:txBody>
      </p:sp>
    </p:spTree>
    <p:extLst>
      <p:ext uri="{BB962C8B-B14F-4D97-AF65-F5344CB8AC3E}">
        <p14:creationId xmlns:p14="http://schemas.microsoft.com/office/powerpoint/2010/main" val="357205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507885639]">
  <a:themeElements>
    <a:clrScheme name="Facet">
      <a:dk1>
        <a:sysClr val="windowText" lastClr="000000"/>
      </a:dk1>
      <a:lt1>
        <a:sysClr val="window" lastClr="FFFFFF"/>
      </a:lt1>
      <a:dk2>
        <a:srgbClr val="083B2A"/>
      </a:dk2>
      <a:lt2>
        <a:srgbClr val="DDE3E0"/>
      </a:lt2>
      <a:accent1>
        <a:srgbClr val="083B2A"/>
      </a:accent1>
      <a:accent2>
        <a:srgbClr val="54A021"/>
      </a:accent2>
      <a:accent3>
        <a:srgbClr val="90C226"/>
      </a:accent3>
      <a:accent4>
        <a:srgbClr val="C9A227"/>
      </a:accent4>
      <a:accent5>
        <a:srgbClr val="E76618"/>
      </a:accent5>
      <a:accent6>
        <a:srgbClr val="C42F1A"/>
      </a:accent6>
      <a:hlink>
        <a:srgbClr val="1F5FA8"/>
      </a:hlink>
      <a:folHlink>
        <a:srgbClr val="54A02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D6E2EC-74E2-4804-8649-7666FB1EC66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22e1f7e-83e2-4759-afbc-292a6b4c976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1433</Words>
  <Application>Microsoft Office PowerPoint</Application>
  <PresentationFormat>Custom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 [1783507885639]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If Offshoring Fits Your Firm</dc:title>
  <dc:subject>PptxGenJS Presentation</dc:subject>
  <dc:creator>Upsilon</dc:creator>
  <cp:lastModifiedBy>Sai Kukudala</cp:lastModifiedBy>
  <cp:revision>5</cp:revision>
  <dcterms:created xsi:type="dcterms:W3CDTF">2026-07-08T10:34:31Z</dcterms:created>
  <dcterms:modified xsi:type="dcterms:W3CDTF">2026-07-08T12:58:46Z</dcterms:modified>
</cp:coreProperties>
</file>